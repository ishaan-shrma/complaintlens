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4B-432E-9E5A-C5DB4C93C528}"/>
              </c:ext>
            </c:extLst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4B-432E-9E5A-C5DB4C93C528}"/>
              </c:ext>
            </c:extLst>
          </c:dPt>
          <c:dPt>
            <c:idx val="2"/>
            <c:invertIfNegative val="0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4B-432E-9E5A-C5DB4C93C528}"/>
              </c:ext>
            </c:extLst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4B-432E-9E5A-C5DB4C93C528}"/>
              </c:ext>
            </c:extLst>
          </c:dPt>
          <c:dPt>
            <c:idx val="4"/>
            <c:invertIfNegative val="0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F4B-432E-9E5A-C5DB4C93C528}"/>
              </c:ext>
            </c:extLst>
          </c:dPt>
          <c:dPt>
            <c:idx val="5"/>
            <c:invertIfNegative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F4B-432E-9E5A-C5DB4C93C52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Majority</c:v>
                </c:pt>
                <c:pt idx="1">
                  <c:v>Naive Bayes</c:v>
                </c:pt>
                <c:pt idx="2">
                  <c:v>LogReg (bal.)</c:v>
                </c:pt>
                <c:pt idx="3">
                  <c:v>SVM (bal.)</c:v>
                </c:pt>
                <c:pt idx="4">
                  <c:v>LogReg (def.)</c:v>
                </c:pt>
                <c:pt idx="5">
                  <c:v>SVM (def.)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0.45750000000000002</c:v>
                </c:pt>
                <c:pt idx="1">
                  <c:v>0.82099999999999995</c:v>
                </c:pt>
                <c:pt idx="2">
                  <c:v>0.89429999999999998</c:v>
                </c:pt>
                <c:pt idx="3">
                  <c:v>0.89600000000000002</c:v>
                </c:pt>
                <c:pt idx="4">
                  <c:v>0.90400000000000003</c:v>
                </c:pt>
                <c:pt idx="5">
                  <c:v>0.91090000000000004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F4B-432E-9E5A-C5DB4C93C5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F2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3D-433D-B786-E5D3ECF364C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43D-433D-B786-E5D3ECF364C4}"/>
              </c:ext>
            </c:extLst>
          </c:dPt>
          <c:dPt>
            <c:idx val="2"/>
            <c:invertIfNegative val="0"/>
            <c:bubble3D val="0"/>
            <c:spPr>
              <a:solidFill>
                <a:srgbClr val="80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3D-433D-B786-E5D3ECF364C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43D-433D-B786-E5D3ECF364C4}"/>
              </c:ext>
            </c:extLst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3D-433D-B786-E5D3ECF364C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DistilBERT
(movie)</c:v>
                </c:pt>
                <c:pt idx="1">
                  <c:v>NLP Town
(product)</c:v>
                </c:pt>
                <c:pt idx="2">
                  <c:v>VADER
(lexicon)</c:v>
                </c:pt>
                <c:pt idx="3">
                  <c:v>RoBERTa
(social)</c:v>
                </c:pt>
                <c:pt idx="4">
                  <c:v>Our SVM
(tuned)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0.62350000000000005</c:v>
                </c:pt>
                <c:pt idx="1">
                  <c:v>0.71640000000000004</c:v>
                </c:pt>
                <c:pt idx="2">
                  <c:v>0.74129999999999996</c:v>
                </c:pt>
                <c:pt idx="3">
                  <c:v>0.79100000000000004</c:v>
                </c:pt>
                <c:pt idx="4">
                  <c:v>0.91200000000000003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43D-433D-B786-E5D3ECF364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F2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5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2 &amp;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713232" y="146304"/>
            <a:ext cx="10277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Intelligence Agent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868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 &amp; Review Mining — Amazon Fine Food Reviews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05256" y="12252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&amp; Week 3 Office Review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05256" y="16276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Exploration, Baseline Model Training, Comparison &amp; Evaluation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10896" y="21671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10896" y="2514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analyze review text to understand sentiment drivers.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rigorously compare sentiment classification models.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validated baseline ahead of embeddings &amp; retrieval work.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10896" y="37124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0896" y="4059936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Domain-trained model outperformed 4 pretrained alternatives.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macro-F1 of 0.9120 after systematic hyperparameter tuning.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distinct, evidence-based error patterns identified and documented.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an incorrect helpfulness-vs-rating pattern with rigorous filtering.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2 &amp;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&amp; 3 Objective &amp; Workflow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9144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clean review text, engineer sentiment features, and train + validate a baseline classifier.  |  Dataset: 393,890 clean reviews (84% pos / 16% neg, binary)  |  Hardware: NVIDIA RTX 3060 Ti GPU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3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8-9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cleaning pipeline (negation-preserving) + sentiment_label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10-11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N-gram analysis + Helpfulness deep-dive — pattern reversal discovered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12-13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SQL/Pandas business queries + first Streamlit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15-17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framing, leakage-safe train/test split, TF-IDF vectorization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18-19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5-config baseline comparison + extended 4-model pretrained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20-21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analysis, hyperparameter tuning, final model saved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8-9 — Text Cleaning &amp; Sentiment Labels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/ 16%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Split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Summaries Fixed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481328"/>
            <a:ext cx="242316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Range Used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 Pipeline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8803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Lowercased, stripped HTML/punctuation, removed filler words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KEPT negation words ("not", "never") — removing them flips meaning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NaN after cleaning crashed the vectorizer → filled with empty string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2514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 Design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28803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stars = positive, 1-2 stars = negative, 3 stars = neutral (excluded)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3-star excluded from binary task — genuinely ambiguous rating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published conventions for this exact dataset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finding: Positive bigrams named specific qualities (“gluten free”, “highly recommend”). Negative bigrams were dominated by generic negation (“would not”, “not buy”) rather than specific complaints — dissatisfaction is often expressed generically.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11 — Helpfulness Analysis: A Pattern That Reversed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With Zero Votes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U-shaped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Before Filtering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After Filtering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→ 0.06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Effect Shrinkage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6060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filtering, both 1-star and 5-star reviews looked “more helpful” than 3-star (U-shape). After restricting to reviews that actually received votes, the pattern reversed completely: helpfulness rises steadily with rating — 1-star lowest, 5-star highest.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749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treating “no one voted” the same as “voted unhelpful” hid the true relationship — short/negative reviews simply receive fewer votes overall, not lower-quality ones.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Externally validated: published research on this exact dataset independently separates unvoted from voted-unhelpful reviews — confirming this was not an ad-hoc assumption.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12-13 — Business Queries &amp; First Dashboard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 → -0.006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Length-Helpfulness Corr.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1-Star Reviews (1 SKU)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Views Built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6060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queries covering rating, time, product, helpfulness, and text-length — exceeds the 15+ requirement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Length↔helpfulness correlation confirmed near-zero once vote-volume bias removed — hard numeric proof of the Day 11 finding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(B000X1Q1G8) flagged with 134 one-star reviews — a concrete, actionable outlier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Streamlit dashboard: KPI cards, rating trend, sentiment mix, sample-review viewer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15-17 — Model Framing, Split &amp; Vectorization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/ 16%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(binary)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20K–30K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Vocabulary Size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Range Tested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6060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only (positive/negative); neutral (3-star) excluded from training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performed BEFORE vectorization — test set locked until final evaluation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fit ONLY on training text; test text transformed using the training vocabulary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caught &amp; fixed: NaN values after cleaning crashed the vectorizer → filled with empty string on both splits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18-19 — Baseline Model Comparison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Macro-F1 (SVM)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0.458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Baseline F1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Tested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Class Balancing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40080" y="2606040"/>
          <a:ext cx="10881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Comparison — vs. 4 Pretrained Models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Tuned SVM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Pretrained (RoBERTa)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Amazon/Yelp-Trained BERT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0.741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(No AI, Lexicon)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40080" y="2606040"/>
          <a:ext cx="10881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domain-trained model beat every pretrained transformer tested — including one trained specifically on Amazon/Yelp reviews.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— RandomizedSearchCV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0.9109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Tuning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Tuning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× 2-Fold CV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315K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Rows Used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0175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max_features: 20,000 vs 30,000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ngram_range: bigrams vs trigrams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min_df: 5 vs 10  |  class_weight: None vs balanced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2651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Configuration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30175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Trigrams, max_features=30,000, min_df=5, class_weight=None (confirmed default again)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(+0.11 point) but genuine improvement — confirms the original manual settings were already close to optimal, rather than revealing they were wrong.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20 — Error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Error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324612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vs 198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Chars: Wrong vs Right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585216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2.82%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58200" y="114300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458200" y="1280160"/>
            <a:ext cx="24231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1.77%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458200" y="1828800"/>
            <a:ext cx="24231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Rate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60604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Counter-intuitive: misclassified reviews are LONGER than correct ones, not shorter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(actually negative): mixed-aspect reviews — genuine praise undercut by an unrelated complaint (health reaction, price, shipping)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(actually positive): negation-heavy logistics/pricing complaints ("expensive", "not the advertised quantity") embedded in an otherwise positive review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TF-IDF is a “bag of words” — it cannot tell which sentiment belongs to which topic within one review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88" y="91440"/>
            <a:ext cx="1005840" cy="11064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6473952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Intelligence Agent | Week 2 &amp;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&amp; 3 Summary &amp; Next Steps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914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NLP text cleaning, sentiment labeling, and business-query analysis. Trained and rigorously validated a baseline sentiment classifier, benchmarking it against 4 pretrained alternatives and tuning it via cross-validated search.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463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TF-IDF + Linear SVM — macro-F1 = 0.9120, saved to models/sentiment_model_final.joblib.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48056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cleaning &amp; sentiment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N-gram analysis &amp; word clouds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Helpfulness deep-dive (Day 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— finding validated externally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SQL/Pandas business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Streamlit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model comparison (5 configs)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comparison vs 4 pretrained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 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— 0.9109 → 0.9120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— 2 failure patterns documented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semantic search, clustering (Wk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1221</Words>
  <Application>Microsoft Office PowerPoint</Application>
  <PresentationFormat>Widescreen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Ishaan</cp:lastModifiedBy>
  <cp:revision>2</cp:revision>
  <dcterms:created xsi:type="dcterms:W3CDTF">2026-09-21T18:36:56Z</dcterms:created>
  <dcterms:modified xsi:type="dcterms:W3CDTF">2026-09-22T06:17:27Z</dcterms:modified>
</cp:coreProperties>
</file>