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32A"/>
                </a:solidFill>
              </a:defRPr>
            </a:pPr>
            <a:r>
              <a:t>Advanced ML, Embeddings</a:t>
            </a:r>
            <a:br/>
            <a:r>
              <a:t>&amp; Review Intelligence</a:t>
            </a:r>
          </a:p>
          <a:p>
            <a:pPr>
              <a:defRPr sz="1800">
                <a:solidFill>
                  <a:srgbClr val="375F96"/>
                </a:solidFill>
              </a:defRPr>
            </a:pPr>
            <a:r>
              <a:t>Week 4 Office Presentation • Days 22–28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86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C6570"/>
                </a:solidFill>
              </a:defRPr>
            </a:pPr>
            <a:r>
              <a:t>Amazon Fine Food Reviews</a:t>
            </a:r>
          </a:p>
          <a:p>
            <a:pPr>
              <a:defRPr sz="1300">
                <a:solidFill>
                  <a:srgbClr val="5C6570"/>
                </a:solidFill>
              </a:defRPr>
            </a:pPr>
            <a:r>
              <a:t>AI/ML Engineering, NLP Sentiment Modeling &amp; Review Intelligence</a:t>
            </a:r>
          </a:p>
          <a:p>
            <a:pPr>
              <a:defRPr sz="1300">
                <a:solidFill>
                  <a:srgbClr val="5C6570"/>
                </a:solidFill>
              </a:defRPr>
            </a:pPr>
            <a:r>
              <a:t>Ishaan Sharma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570"/>
                </a:solidFill>
              </a:defRPr>
            </a:pPr>
            <a:r>
              <a:t>DS Group Internship • Week 4 • Ishaan Sharma   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AI/ML Internship – DS Group | Amazon Fine Food Reviews | Week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32A"/>
                </a:solidFill>
              </a:defRPr>
            </a:pPr>
            <a:r>
              <a:t>Week 4 — Work completed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570"/>
                </a:solidFill>
              </a:defRPr>
            </a:pPr>
            <a:r>
              <a:t>Advanced ML, embeddings, retrieval, topic exploration and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E232A"/>
                </a:solidFill>
              </a:defRPr>
            </a:pPr>
            <a:r>
              <a:t>• Refined the TF-IDF + Linear SVM using leakage-safe cross-validation.</a:t>
            </a:r>
          </a:p>
          <a:p>
            <a:pPr>
              <a:spcAft>
                <a:spcPts val="900"/>
              </a:spcAft>
              <a:defRPr sz="1800">
                <a:solidFill>
                  <a:srgbClr val="1E232A"/>
                </a:solidFill>
              </a:defRPr>
            </a:pPr>
            <a:r>
              <a:t>• Evaluated the final model on a held-out leakage-safe test set.</a:t>
            </a:r>
          </a:p>
          <a:p>
            <a:pPr>
              <a:spcAft>
                <a:spcPts val="900"/>
              </a:spcAft>
              <a:defRPr sz="1800">
                <a:solidFill>
                  <a:srgbClr val="1E232A"/>
                </a:solidFill>
              </a:defRPr>
            </a:pPr>
            <a:r>
              <a:t>• Generated all-MiniLM-L6-v2 sentence embeddings for a documented 50,000-review sample.</a:t>
            </a:r>
          </a:p>
          <a:p>
            <a:pPr>
              <a:spcAft>
                <a:spcPts val="900"/>
              </a:spcAft>
              <a:defRPr sz="1800">
                <a:solidFill>
                  <a:srgbClr val="1E232A"/>
                </a:solidFill>
              </a:defRPr>
            </a:pPr>
            <a:r>
              <a:t>• Built a FAISS vector index and tested semantic retrieval.</a:t>
            </a:r>
          </a:p>
          <a:p>
            <a:pPr>
              <a:spcAft>
                <a:spcPts val="900"/>
              </a:spcAft>
              <a:defRPr sz="1800">
                <a:solidFill>
                  <a:srgbClr val="1E232A"/>
                </a:solidFill>
              </a:defRPr>
            </a:pPr>
            <a:r>
              <a:t>• Manually evaluated retrieval quality on five representative queries.</a:t>
            </a:r>
          </a:p>
          <a:p>
            <a:pPr>
              <a:spcAft>
                <a:spcPts val="900"/>
              </a:spcAft>
              <a:defRPr sz="1800">
                <a:solidFill>
                  <a:srgbClr val="1E232A"/>
                </a:solidFill>
              </a:defRPr>
            </a:pPr>
            <a:r>
              <a:t>• Explored embedding-based clusters and interpreted dominant themes.</a:t>
            </a:r>
          </a:p>
          <a:p>
            <a:pPr>
              <a:spcAft>
                <a:spcPts val="900"/>
              </a:spcAft>
              <a:defRPr sz="1800">
                <a:solidFill>
                  <a:srgbClr val="1E232A"/>
                </a:solidFill>
              </a:defRPr>
            </a:pPr>
            <a:r>
              <a:t>• Documented model interpretation, errors, limitations and the Week 5 review-analyst direction.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570"/>
                </a:solidFill>
              </a:defRPr>
            </a:pPr>
            <a:r>
              <a:t>DS Group Internship • Week 4 • Ishaan Sharma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AI/ML Internship – DS Group | Amazon Fine Food Reviews | Week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32A"/>
                </a:solidFill>
              </a:defRPr>
            </a:pPr>
            <a:r>
              <a:t>Model refinement — final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570"/>
                </a:solidFill>
              </a:defRPr>
            </a:pPr>
            <a:r>
              <a:t>The final model uses the corrected leakage-safe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0574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7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232A"/>
                </a:solidFill>
              </a:defRPr>
            </a:pPr>
            <a:r>
              <a:t>Binary reviews</a:t>
            </a:r>
          </a:p>
          <a:p>
            <a:pPr algn="ctr">
              <a:defRPr sz="1100">
                <a:solidFill>
                  <a:srgbClr val="5C6570"/>
                </a:solidFill>
              </a:defRPr>
            </a:pPr>
            <a:r>
              <a:t>4–5 positive</a:t>
            </a:r>
            <a:br/>
            <a:r>
              <a:t>1–2 negative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07208" y="1417320"/>
            <a:ext cx="20574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7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232A"/>
                </a:solidFill>
              </a:defRPr>
            </a:pPr>
            <a:r>
              <a:t>Group split</a:t>
            </a:r>
          </a:p>
          <a:p>
            <a:pPr algn="ctr">
              <a:defRPr sz="1100">
                <a:solidFill>
                  <a:srgbClr val="5C6570"/>
                </a:solidFill>
              </a:defRPr>
            </a:pPr>
            <a:r>
              <a:t>80/20</a:t>
            </a:r>
            <a:br/>
            <a:r>
              <a:t>text overlap =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11496" y="1417320"/>
            <a:ext cx="20574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7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232A"/>
                </a:solidFill>
              </a:defRPr>
            </a:pPr>
            <a:r>
              <a:t>TF-IDF</a:t>
            </a:r>
          </a:p>
          <a:p>
            <a:pPr algn="ctr">
              <a:defRPr sz="1100">
                <a:solidFill>
                  <a:srgbClr val="5C6570"/>
                </a:solidFill>
              </a:defRPr>
            </a:pPr>
            <a:r>
              <a:t>1–3 grams</a:t>
            </a:r>
            <a:br/>
            <a:r>
              <a:t>min_df=5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5784" y="1417320"/>
            <a:ext cx="20574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7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232A"/>
                </a:solidFill>
              </a:defRPr>
            </a:pPr>
            <a:r>
              <a:t>Linear SVM</a:t>
            </a:r>
          </a:p>
          <a:p>
            <a:pPr algn="ctr">
              <a:defRPr sz="1100">
                <a:solidFill>
                  <a:srgbClr val="5C6570"/>
                </a:solidFill>
              </a:defRPr>
            </a:pPr>
            <a:r>
              <a:t>C=0.5</a:t>
            </a:r>
            <a:br/>
            <a:r>
              <a:t>40k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20072" y="1417320"/>
            <a:ext cx="20574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7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232A"/>
                </a:solidFill>
              </a:defRPr>
            </a:pPr>
            <a:r>
              <a:t>Held-out test</a:t>
            </a:r>
          </a:p>
          <a:p>
            <a:pPr algn="ctr">
              <a:defRPr sz="1100">
                <a:solidFill>
                  <a:srgbClr val="5C6570"/>
                </a:solidFill>
              </a:defRPr>
            </a:pPr>
            <a:r>
              <a:t>72,846 reviews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7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232A"/>
                </a:solidFill>
              </a:defRPr>
            </a:pPr>
            <a:r>
              <a:t>Leakage controls</a:t>
            </a:r>
          </a:p>
          <a:p>
            <a:pPr algn="ctr">
              <a:defRPr sz="1100">
                <a:solidFill>
                  <a:srgbClr val="5C6570"/>
                </a:solidFill>
              </a:defRPr>
            </a:pPr>
            <a:r>
              <a:t>TF-IDF is fitted inside the training pipeline; tuning uses training data only; final test remains untouched.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6576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7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232A"/>
                </a:solidFill>
              </a:defRPr>
            </a:pPr>
            <a:r>
              <a:t>Best CV configuration</a:t>
            </a:r>
          </a:p>
          <a:p>
            <a:pPr algn="ctr">
              <a:defRPr sz="1100">
                <a:solidFill>
                  <a:srgbClr val="5C6570"/>
                </a:solidFill>
              </a:defRPr>
            </a:pPr>
            <a:r>
              <a:t>C=0.5 • 40,000 features • 1–3 grams • 2-fold Stratified CV • CV Macro-F1 = 0.9183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570"/>
                </a:solidFill>
              </a:defRPr>
            </a:pPr>
            <a:r>
              <a:t>DS Group Internship • Week 4 • Ishaan Sharma   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AI/ML Internship – DS Group | Amazon Fine Food Reviews | Week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32A"/>
                </a:solidFill>
              </a:defRPr>
            </a:pPr>
            <a:r>
              <a:t>Final held-out 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570"/>
                </a:solidFill>
              </a:defRPr>
            </a:pPr>
            <a:r>
              <a:t>TF-IDF (1–3 grams) + Linear SVM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7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375F96"/>
                </a:solidFill>
              </a:defRPr>
            </a:pPr>
            <a:r>
              <a:t>96.16%</a:t>
            </a:r>
          </a:p>
          <a:p>
            <a:pPr algn="ctr">
              <a:defRPr sz="1100">
                <a:solidFill>
                  <a:srgbClr val="5C6570"/>
                </a:solidFill>
              </a:defRPr>
            </a:pPr>
            <a:r>
              <a:t>Accuracy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32588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7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375F96"/>
                </a:solidFill>
              </a:defRPr>
            </a:pPr>
            <a:r>
              <a:t>0.9252</a:t>
            </a:r>
          </a:p>
          <a:p>
            <a:pPr algn="ctr">
              <a:defRPr sz="1100">
                <a:solidFill>
                  <a:srgbClr val="5C6570"/>
                </a:solidFill>
              </a:defRPr>
            </a:pPr>
            <a:r>
              <a:t>Macro F1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7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375F96"/>
                </a:solidFill>
              </a:defRPr>
            </a:pPr>
            <a:r>
              <a:t>0.9855</a:t>
            </a:r>
          </a:p>
          <a:p>
            <a:pPr algn="ctr">
              <a:defRPr sz="1100">
                <a:solidFill>
                  <a:srgbClr val="5C6570"/>
                </a:solidFill>
              </a:defRPr>
            </a:pPr>
            <a:r>
              <a:t>ROC-AUC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32588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7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AF4646"/>
                </a:solidFill>
              </a:defRPr>
            </a:pPr>
            <a:r>
              <a:t>0.8730</a:t>
            </a:r>
          </a:p>
          <a:p>
            <a:pPr algn="ctr">
              <a:defRPr sz="1100">
                <a:solidFill>
                  <a:srgbClr val="5C6570"/>
                </a:solidFill>
              </a:defRPr>
            </a:pPr>
            <a:r>
              <a:t>Negative F1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7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232A"/>
                </a:solidFill>
              </a:defRPr>
            </a:pPr>
            <a:r>
              <a:t>Confusion matrix</a:t>
            </a:r>
          </a:p>
          <a:p>
            <a:pPr algn="ctr">
              <a:defRPr sz="1100">
                <a:solidFill>
                  <a:srgbClr val="5C6570"/>
                </a:solidFill>
              </a:defRPr>
            </a:pPr>
            <a:r>
              <a:t>TN = 9,599   •   FP = 1,773</a:t>
            </a:r>
            <a:br/>
            <a:r>
              <a:t>FN = 1,021   •   TP = 60,453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7180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7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232A"/>
                </a:solidFill>
              </a:defRPr>
            </a:pPr>
            <a:r>
              <a:t>ROC-AUC = 0.9855</a:t>
            </a:r>
          </a:p>
          <a:p>
            <a:pPr algn="ctr">
              <a:defRPr sz="1100">
                <a:solidFill>
                  <a:srgbClr val="5C6570"/>
                </a:solidFill>
              </a:defRPr>
            </a:pPr>
            <a:r>
              <a:t>Very strong separation/ranking of positive vs negative reviews across decision thresholds.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70916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7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232A"/>
                </a:solidFill>
              </a:defRPr>
            </a:pPr>
            <a:r>
              <a:t>Critical wording for presentation</a:t>
            </a:r>
          </a:p>
          <a:p>
            <a:pPr algn="ctr">
              <a:defRPr sz="1100">
                <a:solidFill>
                  <a:srgbClr val="5C6570"/>
                </a:solidFill>
              </a:defRPr>
            </a:pPr>
            <a:r>
              <a:t>ROC-AUC uses SVM decision scores. These are NOT calibrated probabilities and must not be reported as confidence percentages.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0916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7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232A"/>
                </a:solidFill>
              </a:defRPr>
            </a:pPr>
            <a:r>
              <a:t>Negative-class view</a:t>
            </a:r>
          </a:p>
          <a:p>
            <a:pPr algn="ctr">
              <a:defRPr sz="1100">
                <a:solidFill>
                  <a:srgbClr val="5C6570"/>
                </a:solidFill>
              </a:defRPr>
            </a:pPr>
            <a:r>
              <a:t>Negative precision = 0.9039 • recall = 0.8441 • F1 = 0.8730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570"/>
                </a:solidFill>
              </a:defRPr>
            </a:pPr>
            <a:r>
              <a:t>DS Group Internship • Week 4 • Ishaan Sharma   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AI/ML Internship – DS Group | Amazon Fine Food Reviews | Week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32A"/>
                </a:solidFill>
              </a:defRPr>
            </a:pPr>
            <a:r>
              <a:t>Error analysis — where the model struggles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570"/>
                </a:solidFill>
              </a:defRPr>
            </a:pPr>
            <a:r>
              <a:t>False positives can represent overlooked negative customer feedback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7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AF4646"/>
                </a:solidFill>
              </a:defRPr>
            </a:pPr>
            <a:r>
              <a:t>1,773</a:t>
            </a:r>
          </a:p>
          <a:p>
            <a:pPr algn="ctr">
              <a:defRPr sz="1100">
                <a:solidFill>
                  <a:srgbClr val="5C6570"/>
                </a:solidFill>
              </a:defRPr>
            </a:pPr>
            <a:r>
              <a:t>False positives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32588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7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375F96"/>
                </a:solidFill>
              </a:defRPr>
            </a:pPr>
            <a:r>
              <a:t>1,021</a:t>
            </a:r>
          </a:p>
          <a:p>
            <a:pPr algn="ctr">
              <a:defRPr sz="1100">
                <a:solidFill>
                  <a:srgbClr val="5C6570"/>
                </a:solidFill>
              </a:defRPr>
            </a:pPr>
            <a:r>
              <a:t>False negatives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7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375F96"/>
                </a:solidFill>
              </a:defRPr>
            </a:pPr>
            <a:r>
              <a:t>9,599</a:t>
            </a:r>
          </a:p>
          <a:p>
            <a:pPr algn="ctr">
              <a:defRPr sz="1100">
                <a:solidFill>
                  <a:srgbClr val="5C6570"/>
                </a:solidFill>
              </a:defRPr>
            </a:pPr>
            <a:r>
              <a:t>True negatives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32588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7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2D7D55"/>
                </a:solidFill>
              </a:defRPr>
            </a:pPr>
            <a:r>
              <a:t>60,453</a:t>
            </a:r>
          </a:p>
          <a:p>
            <a:pPr algn="ctr">
              <a:defRPr sz="1100">
                <a:solidFill>
                  <a:srgbClr val="5C6570"/>
                </a:solidFill>
              </a:defRPr>
            </a:pPr>
            <a:r>
              <a:t>True positives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7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232A"/>
                </a:solidFill>
              </a:defRPr>
            </a:pPr>
            <a:r>
              <a:t>False positives</a:t>
            </a:r>
          </a:p>
          <a:p>
            <a:pPr algn="ctr">
              <a:defRPr sz="1100">
                <a:solidFill>
                  <a:srgbClr val="5C6570"/>
                </a:solidFill>
              </a:defRPr>
            </a:pPr>
            <a:r>
              <a:t>Examples include praise mixed with availability/shipping complaints and reviews where rating and text express different signals.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7180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7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232A"/>
                </a:solidFill>
              </a:defRPr>
            </a:pPr>
            <a:r>
              <a:t>False negatives</a:t>
            </a:r>
          </a:p>
          <a:p>
            <a:pPr algn="ctr">
              <a:defRPr sz="1100">
                <a:solidFill>
                  <a:srgbClr val="5C6570"/>
                </a:solidFill>
              </a:defRPr>
            </a:pPr>
            <a:r>
              <a:t>Examples include positive wording followed by complaints about price, shipping damage or misleading product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49240"/>
            <a:ext cx="106984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7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232A"/>
                </a:solidFill>
              </a:defRPr>
            </a:pPr>
            <a:r>
              <a:t>Interpretation</a:t>
            </a:r>
          </a:p>
          <a:p>
            <a:pPr algn="ctr">
              <a:defRPr sz="1100">
                <a:solidFill>
                  <a:srgbClr val="5C6570"/>
                </a:solidFill>
              </a:defRPr>
            </a:pPr>
            <a:r>
              <a:t>Because labels come from star ratings rather than human sentiment annotations, some apparent errors may reflect mixed sentiment or rating/text disagreement.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570"/>
                </a:solidFill>
              </a:defRPr>
            </a:pPr>
            <a:r>
              <a:t>DS Group Internship • Week 4 • Ishaan Sharma   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AI/ML Internship – DS Group | Amazon Fine Food Reviews | Week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32A"/>
                </a:solidFill>
              </a:defRPr>
            </a:pPr>
            <a:r>
              <a:t>Interpretability — what the SVM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570"/>
                </a:solidFill>
              </a:defRPr>
            </a:pPr>
            <a:r>
              <a:t>Global TF-IDF coefficients complement error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232A"/>
                </a:solidFill>
              </a:defRPr>
            </a:pPr>
            <a:r>
              <a:t>Positive predictors</a:t>
            </a:r>
          </a:p>
          <a:p>
            <a:pPr algn="ctr">
              <a:defRPr sz="1100">
                <a:solidFill>
                  <a:srgbClr val="5C6570"/>
                </a:solidFill>
              </a:defRPr>
            </a:pPr>
            <a:r>
              <a:t>High positive coefficients correspond to language patterns associated with the positive class, such as strong praise and recommendation phrases.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6324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232A"/>
                </a:solidFill>
              </a:defRPr>
            </a:pPr>
            <a:r>
              <a:t>Negative predictors</a:t>
            </a:r>
          </a:p>
          <a:p>
            <a:pPr algn="ctr">
              <a:defRPr sz="1100">
                <a:solidFill>
                  <a:srgbClr val="5C6570"/>
                </a:solidFill>
              </a:defRPr>
            </a:pPr>
            <a:r>
              <a:t>High negative coefficients correspond to language patterns associated with the negative class, such as complaints about quality, value or experience.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232A"/>
                </a:solidFill>
              </a:defRPr>
            </a:pPr>
            <a:r>
              <a:t>Why this helps</a:t>
            </a:r>
          </a:p>
          <a:p>
            <a:pPr algn="ctr">
              <a:defRPr sz="1100">
                <a:solidFill>
                  <a:srgbClr val="5C6570"/>
                </a:solidFill>
              </a:defRPr>
            </a:pPr>
            <a:r>
              <a:t>Coefficient analysis provides a transparent global view of the vocabulary and n-grams influencing the fitted classifier.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06324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232A"/>
                </a:solidFill>
              </a:defRPr>
            </a:pPr>
            <a:r>
              <a:t>Important caveat</a:t>
            </a:r>
          </a:p>
          <a:p>
            <a:pPr algn="ctr">
              <a:defRPr sz="1100">
                <a:solidFill>
                  <a:srgbClr val="5C6570"/>
                </a:solidFill>
              </a:defRPr>
            </a:pPr>
            <a:r>
              <a:t>Coefficient influence is model-specific; it does not prove that a word or phrase causes sentiment.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75488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7E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232A"/>
                </a:solidFill>
              </a:defRPr>
            </a:pPr>
            <a:r>
              <a:t>Other interpretation evidence</a:t>
            </a:r>
          </a:p>
          <a:p>
            <a:pPr algn="ctr">
              <a:defRPr sz="1100">
                <a:solidFill>
                  <a:srgbClr val="5C6570"/>
                </a:solidFill>
              </a:defRPr>
            </a:pPr>
            <a:r>
              <a:t>Representative FP/FN reviews + embedding cluster themes provide complementary qualitative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570"/>
                </a:solidFill>
              </a:defRPr>
            </a:pPr>
            <a:r>
              <a:t>DS Group Internship • Week 4 • Ishaan Sharma   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AI/ML Internship – DS Group | Amazon Fine Food Reviews | Week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Evidence-Backed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Findings grounded in the cleaned review dataset, model errors and retrieval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1. The cleaned dataset is strongly positive: 77.95% positive, 14.50% negative and 7.56% neutral reviews.</a:t>
            </a:r>
          </a:p>
          <a:p>
            <a:pPr>
              <a:spcAft>
                <a:spcPts val="1000"/>
              </a:spcAft>
              <a:defRPr sz="1700"/>
            </a:pPr>
            <a:r>
              <a:t>2. Complaint monitoring remains important: the final model produced 1,773 false positives — negative reviews classified as positive.</a:t>
            </a:r>
          </a:p>
          <a:p>
            <a:pPr>
              <a:spcAft>
                <a:spcPts val="1000"/>
              </a:spcAft>
              <a:defRPr sz="1700"/>
            </a:pPr>
            <a:r>
              <a:t>3. Review complaints are often mixed: examples combine product praise with issues such as price, shipping, packaging or availability.</a:t>
            </a:r>
          </a:p>
          <a:p>
            <a:pPr>
              <a:spcAft>
                <a:spcPts val="1000"/>
              </a:spcAft>
              <a:defRPr sz="1700"/>
            </a:pPr>
            <a:r>
              <a:t>4. Semantic retrieval can surface concrete examples for themes such as “stale product”, “terrible taste” and “great value”.</a:t>
            </a:r>
          </a:p>
          <a:p>
            <a:pPr>
              <a:spcAft>
                <a:spcPts val="1000"/>
              </a:spcAft>
              <a:defRPr sz="1700"/>
            </a:pPr>
            <a:r>
              <a:t>5. Embedding clusters are primarily topical: themes include taste/enjoyment, pet food, tea/health, coffee, and general grocery quality/value/packaging.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AI/ML Internship – DS Group | Amazon Fine Food Reviews | Week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the Findings Mean for Review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Potential uses are analytical signals, not automated business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Prioritize negative-review monitoring so complaint examples are not hidden by the majority-positive distribution.</a:t>
            </a:r>
          </a:p>
          <a:p>
            <a:pPr>
              <a:spcAft>
                <a:spcPts val="1000"/>
              </a:spcAft>
              <a:defRPr sz="1700"/>
            </a:pPr>
            <a:r>
              <a:t>Separate complaint dimensions such as product quality, price/value, fulfilment and availability when reviewing customer feedback.</a:t>
            </a:r>
          </a:p>
          <a:p>
            <a:pPr>
              <a:spcAft>
                <a:spcPts val="1000"/>
              </a:spcAft>
              <a:defRPr sz="1700"/>
            </a:pPr>
            <a:r>
              <a:t>Use semantic search to retrieve representative customer examples behind a business question instead of relying only on keyword matching.</a:t>
            </a:r>
          </a:p>
          <a:p>
            <a:pPr>
              <a:spcAft>
                <a:spcPts val="1000"/>
              </a:spcAft>
              <a:defRPr sz="1700"/>
            </a:pPr>
            <a:r>
              <a:t>Use topic clusters to organize recurring feedback themes before deeper product/category analysis.</a:t>
            </a:r>
          </a:p>
          <a:p>
            <a:pPr>
              <a:spcAft>
                <a:spcPts val="1000"/>
              </a:spcAft>
              <a:defRPr sz="1700"/>
            </a:pPr>
            <a:r>
              <a:t>Treat model predictions as decision-support signals: rating-derived labels contain noise and mixed-sentiment reviews can be difficult to classify.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AI/ML Internship – DS Group | Amazon Fine Food Reviews | Week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Embedding Search Demonstration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all-MiniLM-L6-v2 + FAISS over a documented 50,000-review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Queries tested: “delicious coffee”, “terrible taste”, “great value”, “stale product”, and “highly recommend”.</a:t>
            </a:r>
          </a:p>
          <a:p>
            <a:pPr>
              <a:spcAft>
                <a:spcPts val="1000"/>
              </a:spcAft>
              <a:defRPr sz="1700"/>
            </a:pPr>
            <a:r>
              <a:t>Retrieval used normalized sentence embeddings with FAISS IndexFlatIP + IndexIDMap and stable original review IDs.</a:t>
            </a:r>
          </a:p>
          <a:p>
            <a:pPr>
              <a:spcAft>
                <a:spcPts val="1000"/>
              </a:spcAft>
              <a:defRPr sz="1700"/>
            </a:pPr>
            <a:r>
              <a:t>Manual evaluation of the top 5 results per query: Precision@5 = 100%.</a:t>
            </a:r>
          </a:p>
          <a:p>
            <a:pPr>
              <a:spcAft>
                <a:spcPts val="1000"/>
              </a:spcAft>
              <a:defRPr sz="1700"/>
            </a:pPr>
            <a:r>
              <a:t>Graded relevance@5 = 90% on the same five-query sample.</a:t>
            </a:r>
          </a:p>
          <a:p>
            <a:pPr>
              <a:spcAft>
                <a:spcPts val="1000"/>
              </a:spcAft>
              <a:defRPr sz="1700"/>
            </a:pPr>
            <a:r>
              <a:t>Interpretation: the prototype retrieved relevant examples in this small evaluation; results should not be generalized beyond the tested sample.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AI/ML Internship – DS Group | Amazon Fine Food Reviews | Week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Initial Topic Findings &amp; Model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Embedding clusters and TF-IDF/SVM coefficients provide complementary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Five embedding clusters contain 30.4%, 10.6%, 15.1%, 11.2% and 32.7% of the 50,000-review sample.</a:t>
            </a:r>
          </a:p>
          <a:p>
            <a:pPr>
              <a:spcAft>
                <a:spcPts val="1000"/>
              </a:spcAft>
              <a:defRPr sz="1700"/>
            </a:pPr>
            <a:r>
              <a:t>Observed themes include taste/enjoyment; pet food; tea, taste &amp; health; coffee; and general grocery quality/value/packaging.</a:t>
            </a:r>
          </a:p>
          <a:p>
            <a:pPr>
              <a:spcAft>
                <a:spcPts val="1000"/>
              </a:spcAft>
              <a:defRPr sz="1700"/>
            </a:pPr>
            <a:r>
              <a:t>Positive-review shares across clusters are close (approximately 76.7%–78.4%), so clusters should be interpreted mainly as topical groupings.</a:t>
            </a:r>
          </a:p>
          <a:p>
            <a:pPr>
              <a:spcAft>
                <a:spcPts val="1000"/>
              </a:spcAft>
              <a:defRPr sz="1700"/>
            </a:pPr>
            <a:r>
              <a:t>The Linear SVM can be interpreted through TF-IDF coefficient direction: positive coefficients push predictions toward positive sentiment and negative coefficients toward negative sentiment.</a:t>
            </a:r>
          </a:p>
          <a:p>
            <a:pPr>
              <a:spcAft>
                <a:spcPts val="1000"/>
              </a:spcAft>
              <a:defRPr sz="1700"/>
            </a:pPr>
            <a:r>
              <a:t>Representative misclassifications show why lexical signals can struggle with mixed sentiment, implicit complaints and rating/text disagreement.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AI/ML Internship – DS Group | Amazon Fine Food Reviews | Week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Draft Model Card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Current model: tuned Linear SVM with TF-IDF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Task: binary positive/negative sentiment classification; labels are derived from star ratings (4–5 positive, 1–2 negative; neutral excluded).</a:t>
            </a:r>
          </a:p>
          <a:p>
            <a:pPr>
              <a:spcAft>
                <a:spcPts val="1000"/>
              </a:spcAft>
              <a:defRPr sz="1700"/>
            </a:pPr>
            <a:r>
              <a:t>Training: leakage-safe group-based train/test split with TF-IDF fitted on training data; hyperparameters selected using 2-fold cross-validation on training data.</a:t>
            </a:r>
          </a:p>
          <a:p>
            <a:pPr>
              <a:spcAft>
                <a:spcPts val="1000"/>
              </a:spcAft>
              <a:defRPr sz="1700"/>
            </a:pPr>
            <a:r>
              <a:t>Final held-out performance: 96.16% accuracy, 0.9252 Macro-F1, 0.9855 ROC-AUC; negative-class F1 = 0.8730.</a:t>
            </a:r>
          </a:p>
          <a:p>
            <a:pPr>
              <a:spcAft>
                <a:spcPts val="1000"/>
              </a:spcAft>
              <a:defRPr sz="1700"/>
            </a:pPr>
            <a:r>
              <a:t>Limitations: rating-derived labels are an imperfect proxy for textual sentiment; mixed-sentiment and ambiguous reviews remain difficult.</a:t>
            </a:r>
          </a:p>
          <a:p>
            <a:pPr>
              <a:spcAft>
                <a:spcPts val="1000"/>
              </a:spcAft>
              <a:defRPr sz="1700"/>
            </a:pPr>
            <a:r>
              <a:t>Additional limitations: dataset age, class imbalance, embedding sampling, and non-production status. SVM decision scores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AI/ML Internship – DS Group | Amazon Fine Food Reviews | Week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Week 5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Move from validated components toward a read-only AI Review Analyst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Semantic search: retrieve reviews by meaning with metadata filters.</a:t>
            </a:r>
          </a:p>
          <a:p>
            <a:pPr>
              <a:spcAft>
                <a:spcPts val="1000"/>
              </a:spcAft>
              <a:defRPr sz="1700"/>
            </a:pPr>
            <a:r>
              <a:t>KPI tool: approved review count, rating, sentiment share, helpfulness and negative-review metrics.</a:t>
            </a:r>
          </a:p>
          <a:p>
            <a:pPr>
              <a:spcAft>
                <a:spcPts val="1000"/>
              </a:spcAft>
              <a:defRPr sz="1700"/>
            </a:pPr>
            <a:r>
              <a:t>Prediction tool: expose the trained sentiment pipeline with clearly documented output and caveats.</a:t>
            </a:r>
          </a:p>
          <a:p>
            <a:pPr>
              <a:spcAft>
                <a:spcPts val="1000"/>
              </a:spcAft>
              <a:defRPr sz="1700"/>
            </a:pPr>
            <a:r>
              <a:t>Guardrails: read-only behavior, no destructive writes, source-grounded answers and explicit “not available in data” handling.</a:t>
            </a:r>
          </a:p>
          <a:p>
            <a:pPr>
              <a:spcAft>
                <a:spcPts val="1000"/>
              </a:spcAft>
              <a:defRPr sz="1700"/>
            </a:pPr>
            <a:r>
              <a:t>Priority: preserve reproducibility and traceability while building the assistant around the validated model and retrieval components.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AI/ML Internship – DS Group | Amazon Fine Food Reviews | Week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