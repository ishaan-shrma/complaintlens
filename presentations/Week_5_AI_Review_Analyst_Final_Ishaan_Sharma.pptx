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9"/>
                </a:solidFill>
                <a:latin typeface="Aptos"/>
              </a:rPr>
              <a:t>Amazon Fine Food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361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9A8FF"/>
                </a:solidFill>
                <a:latin typeface="Aptos"/>
              </a:rPr>
              <a:t>AI Review Intelligence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677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3AEBD"/>
                </a:solidFill>
                <a:latin typeface="Aptos"/>
              </a:rPr>
              <a:t>Week 5 — Agent Integration, Semantic Retrieval, Sentiment Inference &amp; Guardrails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2880360"/>
            <a:ext cx="10762488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3291840"/>
            <a:ext cx="2487168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38144"/>
            <a:ext cx="2121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CLEAN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30752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393,890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279392"/>
            <a:ext cx="21214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deduplicated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291840"/>
            <a:ext cx="2487168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438144"/>
            <a:ext cx="2121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BEST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30752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DistilBERT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79392"/>
            <a:ext cx="21214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281k training partition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291840"/>
            <a:ext cx="2487168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438144"/>
            <a:ext cx="2121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MACRO-F1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730752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0.9504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279392"/>
            <a:ext cx="21214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untouched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291840"/>
            <a:ext cx="2487168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3438144"/>
            <a:ext cx="2121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3730752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32 / 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79392"/>
            <a:ext cx="21214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91FF"/>
                </a:solidFill>
                <a:latin typeface="Aptos"/>
              </a:rPr>
              <a:t>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3035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F5F9"/>
                </a:solidFill>
                <a:latin typeface="Aptos"/>
              </a:rPr>
              <a:t>From validated ML experiments → working review intelligence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978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EBD"/>
                </a:solidFill>
                <a:latin typeface="Aptos"/>
              </a:rPr>
              <a:t>Ishaan Sharma  •  B.Tech AI/ML  •  DS Group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Week 5 — Completed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Integration and application layer built around the validated models.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5166360" cy="155448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9A8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830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9"/>
                </a:solidFill>
                <a:latin typeface="Aptos"/>
              </a:rPr>
              <a:t>Semantic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40280"/>
            <a:ext cx="39776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EBD"/>
                </a:solidFill>
                <a:latin typeface="Aptos"/>
              </a:rPr>
              <a:t>100k MiniLM-L6-v2 embeddings + FAISS IndexFlatIP.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645920"/>
            <a:ext cx="5166360" cy="155448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C8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7830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9"/>
                </a:solidFill>
                <a:latin typeface="Aptos"/>
              </a:rPr>
              <a:t>Sentiment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2240280"/>
            <a:ext cx="39776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EBD"/>
                </a:solidFill>
                <a:latin typeface="Aptos"/>
              </a:rPr>
              <a:t>Fine-tuned DistilBERT + calibrated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66160"/>
            <a:ext cx="5166360" cy="155448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749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91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70332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9"/>
                </a:solidFill>
                <a:latin typeface="Aptos"/>
              </a:rPr>
              <a:t>AI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60520"/>
            <a:ext cx="39776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EBD"/>
                </a:solidFill>
                <a:latin typeface="Aptos"/>
              </a:rPr>
              <a:t>Read-only Search, KPI and Predict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566160"/>
            <a:ext cx="5166360" cy="155448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749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535B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370332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9"/>
                </a:solidFill>
                <a:latin typeface="Aptos"/>
              </a:rPr>
              <a:t>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4160520"/>
            <a:ext cx="39776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EBD"/>
                </a:solidFill>
                <a:latin typeface="Aptos"/>
              </a:rPr>
              <a:t>32/32 safety cases passed; writes blocked.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EDCDD"/>
                </a:solidFill>
                <a:latin typeface="Aptos"/>
              </a:rPr>
              <a:t>Reviews → Clean data → Models → Retrieval / Prediction → Agent →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Data &amp;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Amazon Fine Food Reviews after cleaning and sentiment construction.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7393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RAW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66543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568,454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27632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77393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DUPLICATES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066543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174,562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27632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77393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CLEAN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066543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393,890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627632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77393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BINARY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066543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364,122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Sentiment mapping: 4–5 stars → positive; 1–2 stars → negative; 3 stars → neutral.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Clean sentiment distribution: 77.95% positive, 14.50% negative, 7.56% neutral.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51960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Binary sentiment model uses positive vs negative; neutral is excluded from classifier training.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0/0 helpfulness-vote cases are excluded for helpfulness-ratio calculation because the ratio is undefined.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715000"/>
            <a:ext cx="10469880" cy="4572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24728"/>
            <a:ext cx="10149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EDCDD"/>
                </a:solidFill>
                <a:latin typeface="Aptos"/>
              </a:rPr>
              <a:t>Goal: combine predictive sentiment intelligence with review-level semantic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Leakage-Safe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Group-based 80/20 split using full review text as the grouping key.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291,276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72,846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63347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EXACT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63347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train ↔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63347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91FF"/>
                </a:solidFill>
                <a:latin typeface="Aptos"/>
              </a:rPr>
              <a:t>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46120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9"/>
                </a:solidFill>
                <a:latin typeface="Aptos"/>
              </a:rPr>
              <a:t>• GroupShuffleSplit prevents identical review text from appearing across train and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49039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9"/>
                </a:solidFill>
                <a:latin typeface="Aptos"/>
              </a:rPr>
              <a:t>• Class proportions were checked after splitting and remained approximately 84/16.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9"/>
                </a:solidFill>
                <a:latin typeface="Aptos"/>
              </a:rPr>
              <a:t>• 5,000 × 5,000 sampled near-duplicate diagnostic: only 3 pairs at ≥0.90 cosine similarity.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03327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9"/>
                </a:solidFill>
                <a:latin typeface="Aptos"/>
              </a:rPr>
              <a:t>• The held-out test set was kept untouched during model selection.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5715000"/>
            <a:ext cx="10469880" cy="4572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24728"/>
            <a:ext cx="10149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5DC8E"/>
                </a:solidFill>
                <a:latin typeface="Aptos"/>
              </a:rPr>
              <a:t>Selection → validation / CV     |     Final reporting → one untouched test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Final Sentiment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DistilBERT selected after validation-based hyperparameter experiments.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4650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97.39%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8775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60020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74650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MACRO-F1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0391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0.9504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58775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0020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4650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ROC-AUC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391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0.9930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58775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60020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74650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NEGATIVE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0391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91.38%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58775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91FF"/>
                </a:solidFill>
                <a:latin typeface="Aptos"/>
              </a:rPr>
              <a:t>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46120"/>
            <a:ext cx="3383280" cy="7315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35584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3AEBD"/>
                </a:solidFill>
                <a:latin typeface="Aptos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5" y="334670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distilbert-base-uncased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7" y="3246120"/>
            <a:ext cx="3383280" cy="7315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335584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3AEBD"/>
                </a:solidFill>
                <a:latin typeface="Aptos"/>
              </a:rPr>
              <a:t>Learning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5855" y="334670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2e-5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3246120"/>
            <a:ext cx="3383280" cy="7315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35584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3AEBD"/>
                </a:solidFill>
                <a:latin typeface="Aptos"/>
              </a:rPr>
              <a:t>Batch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334670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06240"/>
            <a:ext cx="3383280" cy="7315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31596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3AEBD"/>
                </a:solidFill>
                <a:latin typeface="Aptos"/>
              </a:rPr>
              <a:t>Epochs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5" y="4306824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07407" y="4206240"/>
            <a:ext cx="3383280" cy="7315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1999" y="431596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3AEBD"/>
                </a:solidFill>
                <a:latin typeface="Aptos"/>
              </a:rPr>
              <a:t>Weight decay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5" y="4306824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0.01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6448" y="4206240"/>
            <a:ext cx="3383280" cy="7315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31596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3AEBD"/>
                </a:solidFill>
                <a:latin typeface="Aptos"/>
              </a:rPr>
              <a:t>Max length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4306824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3AEBD"/>
                </a:solidFill>
                <a:latin typeface="Aptos"/>
              </a:rPr>
              <a:t>Experiments included learning rate, batch size, epochs, class weighting and a second-seed check.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Class Weighting — Additional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4× negative-class weighting was tested and rejected.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UNWEIGHTED MACRO-F1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0.9504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4× 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0.9378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UNWEIGHTED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97.39%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645920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792224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4×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08483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96.72%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10634472" cy="19659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204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3AEBD"/>
                </a:solidFill>
                <a:latin typeface="Aptos"/>
              </a:rPr>
              <a:t>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204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3AEBD"/>
                </a:solidFill>
                <a:latin typeface="Aptos"/>
              </a:rPr>
              <a:t>Unweighted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204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3AEBD"/>
                </a:solidFill>
                <a:latin typeface="Aptos"/>
              </a:rPr>
              <a:t>4×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5204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3AEBD"/>
                </a:solidFill>
                <a:latin typeface="Aptos"/>
              </a:rP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8620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F5F9"/>
                </a:solidFill>
                <a:latin typeface="Aptos"/>
              </a:rPr>
              <a:t>Macro-F1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88620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0.9504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88620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0.9378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88620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535B"/>
                </a:solidFill>
                <a:latin typeface="Aptos"/>
              </a:rPr>
              <a:t>−0.0126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3367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F5F9"/>
                </a:solidFill>
                <a:latin typeface="Aptos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23367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97.39%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3367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96.72%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23367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535B"/>
                </a:solidFill>
                <a:latin typeface="Aptos"/>
              </a:rPr>
              <a:t>−0.67 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8114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F5F9"/>
                </a:solidFill>
                <a:latin typeface="Aptos"/>
              </a:rPr>
              <a:t>Negative 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58114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91.38%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8114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89.62%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58114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535B"/>
                </a:solidFill>
                <a:latin typeface="Aptos"/>
              </a:rPr>
              <a:t>−1.76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2861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F5F9"/>
                </a:solidFill>
                <a:latin typeface="Aptos"/>
              </a:rPr>
              <a:t>ROC-AUC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92861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0.9930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92861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5F9"/>
                </a:solidFill>
                <a:latin typeface="Aptos"/>
              </a:rPr>
              <a:t>0.9899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492861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535B"/>
                </a:solidFill>
                <a:latin typeface="Aptos"/>
              </a:rPr>
              <a:t>−0.0031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" y="5623560"/>
            <a:ext cx="10469880" cy="5029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51576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C64C"/>
                </a:solidFill>
                <a:latin typeface="Aptos"/>
              </a:rPr>
              <a:t>Decision: keep the original unweighted model — weighting did not improve the minority class or Macro-F1.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Classifier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DistilBERT outperformed the tuned TF-IDF + Linear SVM baseline.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LINEAR SVM MACRO-F1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0.9253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5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DISTILBERT 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5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0.9504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+0.0251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46120"/>
            <a:ext cx="10634472" cy="201168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5F9"/>
                </a:solidFill>
                <a:latin typeface="Aptos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5204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ptos"/>
              </a:rPr>
              <a:t>96.17%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204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C8E"/>
                </a:solidFill>
                <a:latin typeface="Aptos"/>
              </a:rPr>
              <a:t>97.39%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5204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5DC8E"/>
                </a:solidFill>
                <a:latin typeface="Aptos"/>
              </a:rPr>
              <a:t>+1.22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136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5F9"/>
                </a:solidFill>
                <a:latin typeface="Aptos"/>
              </a:rPr>
              <a:t>Macro-F1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9136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ptos"/>
              </a:rPr>
              <a:t>0.9253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9136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C8E"/>
                </a:solidFill>
                <a:latin typeface="Aptos"/>
              </a:rPr>
              <a:t>0.9504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136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5DC8E"/>
                </a:solidFill>
                <a:latin typeface="Aptos"/>
              </a:rPr>
              <a:t>+0.0251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0682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5F9"/>
                </a:solidFill>
                <a:latin typeface="Aptos"/>
              </a:rPr>
              <a:t>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30682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ptos"/>
              </a:rPr>
              <a:t>0.9854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30682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C8E"/>
                </a:solidFill>
                <a:latin typeface="Aptos"/>
              </a:rPr>
              <a:t>0.9930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0682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5DC8E"/>
                </a:solidFill>
                <a:latin typeface="Aptos"/>
              </a:rPr>
              <a:t>+0.0076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0001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5F9"/>
                </a:solidFill>
                <a:latin typeface="Aptos"/>
              </a:rPr>
              <a:t>Negative 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70001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ptos"/>
              </a:rPr>
              <a:t>84.44%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70001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5DC8E"/>
                </a:solidFill>
                <a:latin typeface="Aptos"/>
              </a:rPr>
              <a:t>91.38%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0001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5DC8E"/>
                </a:solidFill>
                <a:latin typeface="Aptos"/>
              </a:rPr>
              <a:t>+6.94 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3AEBD"/>
                </a:solidFill>
                <a:latin typeface="Aptos"/>
              </a:rPr>
              <a:t>DistilBERT provides stronger contextual representations than sparse TF-IDF features.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Semantic Search &amp; Vector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Retrieval is a separate component from sentiment classification.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190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INDEXED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603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random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72768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7190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0116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5603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vectors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572768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190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116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MiniLM-L6-v2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5603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91FF"/>
                </a:solidFill>
                <a:latin typeface="Aptos"/>
              </a:rPr>
              <a:t>pretrained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572768"/>
            <a:ext cx="251460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7190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0116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FAISS FlatIP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5603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inner 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017520"/>
            <a:ext cx="10634472" cy="25146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(20261006-1706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133" y="3108960"/>
            <a:ext cx="4985508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568756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EDCDD"/>
                </a:solidFill>
                <a:latin typeface="Aptos"/>
              </a:rPr>
              <a:t>Query → MiniLM embedding → FAISS search → review metadata → sentiment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Calibrated Sentiment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Temperature scaling improves probability reliability without changing predicted classes.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ACTIVE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DistilBERT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281k partition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5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T = 1.654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2633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91FF"/>
                </a:solidFill>
                <a:latin typeface="Aptos"/>
              </a:rPr>
              <a:t>fit on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6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TEST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0.0094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2633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raw: 0.0201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00400"/>
            <a:ext cx="10634472" cy="233172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(20261006-1707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28" y="3273552"/>
            <a:ext cx="4576719" cy="2148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3AEBD"/>
                </a:solidFill>
                <a:latin typeface="Aptos"/>
              </a:rPr>
              <a:t>Dashboard confidence uses the calibrated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AI Review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A read-only tool layer connects natural-language questions to grounded analytics.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2423160" cy="8229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9A8FF"/>
                </a:solidFill>
                <a:latin typeface="Aptos"/>
              </a:rPr>
              <a:t>User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18653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3AEB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1645920"/>
            <a:ext cx="2423160" cy="8229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5" y="1892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B591FF"/>
                </a:solidFill>
                <a:latin typeface="Aptos"/>
              </a:rPr>
              <a:t>Tool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18653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3AEB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645920"/>
            <a:ext cx="2423160" cy="8229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892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EDCDD"/>
                </a:solidFill>
                <a:latin typeface="Aptos"/>
              </a:rPr>
              <a:t>Search / KPI /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18653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3AEB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1645920"/>
            <a:ext cx="2423160" cy="8229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5" y="1892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5DC8E"/>
                </a:solidFill>
                <a:latin typeface="Aptos"/>
              </a:rPr>
              <a:t>Source-grounded 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788920"/>
            <a:ext cx="10634472" cy="2423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(20261006-1707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933" y="2889504"/>
            <a:ext cx="4747908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5DC8E"/>
                </a:solidFill>
                <a:latin typeface="Aptos"/>
              </a:rPr>
              <a:t>Example: average rating in 2010 → 4.214 over 58,003 reviews → source and tool shown.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Guardrails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The analyst is intentionally constrained to analysis rather than arbitrary actions.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TOOLS LOADED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9A8FF"/>
                </a:solidFill>
                <a:latin typeface="Aptos"/>
              </a:rPr>
              <a:t>Search • KPI • Predict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5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GUARDRAIL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32 /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2633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5DC8E"/>
                </a:solidFill>
                <a:latin typeface="Aptos"/>
              </a:rPr>
              <a:t>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1645920"/>
            <a:ext cx="3246120" cy="128016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6" y="17922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3AEBD"/>
                </a:solidFill>
                <a:latin typeface="Aptos"/>
              </a:rPr>
              <a:t>WRITE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20848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F5F9"/>
                </a:solidFill>
                <a:latin typeface="Aptos"/>
              </a:rPr>
              <a:t>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2633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535B"/>
                </a:solidFill>
                <a:latin typeface="Aptos"/>
              </a:rPr>
              <a:t>read-only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10241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SQL write requests are blocked; exposed tools are read-only.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49039"/>
            <a:ext cx="10241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Answers are grounded in tool outputs and visible source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241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Predictor limitation is explicit: 1–2 stars negative, 4–5 positive; 3-star reviews excluded.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10241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9"/>
                </a:solidFill>
                <a:latin typeface="Aptos"/>
              </a:rPr>
              <a:t>• Mixed or neutral free-form text is still forced into the binary model output, and the UI states that limitation.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715000"/>
            <a:ext cx="10469880" cy="4572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24728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EDCDD"/>
                </a:solidFill>
                <a:latin typeface="Aptos"/>
              </a:rPr>
              <a:t>Principle: useful enough to answer questions, constrained enough to avoid unsafe actions.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Integrated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One interface for dataset intelligence, model evaluation, retrieval, prediction and the agent.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443484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(20261006-17050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724" y="1572768"/>
            <a:ext cx="9044359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989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9A8FF"/>
                </a:solidFill>
                <a:latin typeface="Aptos"/>
              </a:rPr>
              <a:t>Overview &amp;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989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5DC8E"/>
                </a:solidFill>
                <a:latin typeface="Aptos"/>
              </a:rPr>
              <a:t>Model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5989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B591FF"/>
                </a:solidFill>
                <a:latin typeface="Aptos"/>
              </a:rPr>
              <a:t>Semantic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989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535B"/>
                </a:solidFill>
                <a:latin typeface="Aptos"/>
              </a:rPr>
              <a:t>Sentiment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5989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EDCDD"/>
                </a:solidFill>
                <a:latin typeface="Aptos"/>
              </a:rPr>
              <a:t>AI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Week 5 — Final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Status of the integrated AI Review Analyst.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739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5DC8E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1682495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Dataset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7" y="1682495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393,890 clean reviews + KPI/trend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57276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739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5DC8E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856" y="1682495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Final sentiment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1682495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97.39% accuracy • 0.9504 Macro-F1 • 0.9930 AUC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57860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779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64C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268833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Class-weight 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7" y="2688336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4× tested and rejected: 0.9378 Macro-F1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257860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79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9A8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268833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Semantic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688336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100k MiniLM vectors + FAISS IndexFlatIP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58444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785615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591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5" y="369417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7" y="3694176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T=1.654 • ECE 0.0201 → 0.0094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358444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85615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EDCDD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369417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AI analyst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694176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3 read-only tools: Search / KPI / Predict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9028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79145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535B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5" y="470001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0087" y="4700016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32/32 tests passed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4590288"/>
            <a:ext cx="5166360" cy="804672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79145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5DC8E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470001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5F9"/>
                </a:solidFill>
                <a:latin typeface="Aptos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4700016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BD"/>
                </a:solidFill>
                <a:latin typeface="Aptos"/>
              </a:rPr>
              <a:t>Integrated Streamlit intelligence application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" y="5833872"/>
            <a:ext cx="10469880" cy="4572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943600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5DC8E"/>
                </a:solidFill>
                <a:latin typeface="Aptos"/>
              </a:rPr>
              <a:t>Week 5 implementation complete — ready for final demonstration and presentation.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EBD"/>
                </a:solidFill>
                <a:latin typeface="Aptos"/>
              </a:rPr>
              <a:t>The project moved from model experiments to a defensible review intelligence system.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F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EBD"/>
                </a:solidFill>
                <a:latin typeface="Aptos"/>
              </a:rPr>
              <a:t>DS Group Internship  •  Week 5  •  Ishaan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10698480" cy="6858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5DC8E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Evidence-driven model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EBD"/>
                </a:solidFill>
                <a:latin typeface="Aptos"/>
              </a:rPr>
              <a:t>DistilBERT was selected through validation experiments.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23160"/>
            <a:ext cx="10698480" cy="6858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877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C64C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146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Class weighting was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14600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EBD"/>
                </a:solidFill>
                <a:latin typeface="Aptos"/>
              </a:rPr>
              <a:t>4× negative weighting underperformed and was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91839"/>
            <a:ext cx="10698480" cy="6858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564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9A8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8327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Retrieval ≠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83279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EBD"/>
                </a:solidFill>
                <a:latin typeface="Aptos"/>
              </a:rPr>
              <a:t>MiniLM + FAISS finds evidence; DistilBERT predicts sentiment.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60520"/>
            <a:ext cx="10698480" cy="6858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251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B591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5195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Confidence was calibrated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251959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EBD"/>
                </a:solidFill>
                <a:latin typeface="Aptos"/>
              </a:rPr>
              <a:t>T=1.654 reduced test ECE to 0.0094.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29200"/>
            <a:ext cx="10698480" cy="685800"/>
          </a:xfrm>
          <a:prstGeom prst="roundRect">
            <a:avLst/>
          </a:prstGeom>
          <a:solidFill>
            <a:srgbClr val="141922"/>
          </a:solidFill>
          <a:ln>
            <a:solidFill>
              <a:srgbClr val="2F3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937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535B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206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Agent is read-only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20640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EBD"/>
                </a:solidFill>
                <a:latin typeface="Aptos"/>
              </a:rPr>
              <a:t>Three tools answer analytical questions with guardrails.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A8FF"/>
                </a:solidFill>
                <a:latin typeface="Aptos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3AEB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